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Годовой обзор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Расширенная версия · 60 слайдов · ООО «Ромашка»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02. Итоги квартала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Выручка выросла на 12% к предыдущему кварталу</a:t>
            </a:r>
          </a:p>
          <a:p>
            <a:pPr lvl="1"/>
            <a:r>
              <a:t>Подписано 8 новых договоров</a:t>
            </a:r>
          </a:p>
          <a:p>
            <a:pPr lvl="1"/>
            <a:r>
              <a:t>Средний срок согласования — 6 рабочих дней</a:t>
            </a:r>
          </a:p>
          <a:p>
            <a:pPr lvl="1"/>
            <a:r>
              <a:t>Раздел 02: показатель за период — 1274 условных единиц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03. Структура портфеля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Услуги — 54%</a:t>
            </a:r>
          </a:p>
          <a:p>
            <a:pPr lvl="1"/>
            <a:r>
              <a:t>Поставка — 31%</a:t>
            </a:r>
          </a:p>
          <a:p>
            <a:pPr lvl="1"/>
            <a:r>
              <a:t>Аренда — 15%</a:t>
            </a:r>
          </a:p>
          <a:p>
            <a:pPr lvl="1"/>
            <a:r>
              <a:t>Раздел 03: показатель за период — 1311 условных единиц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04. Ключевые контрагенты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ООО «Василёк»</a:t>
            </a:r>
          </a:p>
          <a:p>
            <a:pPr lvl="1"/>
            <a:r>
              <a:t>ЗАО «Тестовый Мост»</a:t>
            </a:r>
          </a:p>
          <a:p>
            <a:pPr lvl="1"/>
            <a:r>
              <a:t>ООО «ТехноСфера-Плюс»</a:t>
            </a:r>
          </a:p>
          <a:p>
            <a:pPr lvl="1"/>
            <a:r>
              <a:t>Раздел 04: показатель за период — 1348 условных единиц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05. Просроченная задолженность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Всего 4 договора</a:t>
            </a:r>
          </a:p>
          <a:p>
            <a:pPr lvl="1"/>
            <a:r>
              <a:t>Средний срок просрочки — 11 дней</a:t>
            </a:r>
          </a:p>
          <a:p>
            <a:pPr lvl="1"/>
            <a:r>
              <a:t>Претензионная работа начата по 3 из 4</a:t>
            </a:r>
          </a:p>
          <a:p>
            <a:pPr lvl="1"/>
            <a:r>
              <a:t>Раздел 05: показатель за период — 1385 условных единиц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06. Процесс согласования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Заявка</a:t>
            </a:r>
          </a:p>
          <a:p>
            <a:pPr lvl="1"/>
            <a:r>
              <a:t>Проверка контрагента</a:t>
            </a:r>
          </a:p>
          <a:p>
            <a:pPr lvl="1"/>
            <a:r>
              <a:t>Юридическая экспертиза</a:t>
            </a:r>
          </a:p>
          <a:p>
            <a:pPr lvl="1"/>
            <a:r>
              <a:t>Подписание</a:t>
            </a:r>
          </a:p>
          <a:p>
            <a:pPr lvl="1"/>
            <a:r>
              <a:t>Раздел 06: показатель за период — 1422 условных единиц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07. Риски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Зависимость от одного поставщика</a:t>
            </a:r>
          </a:p>
          <a:p>
            <a:pPr lvl="1"/>
            <a:r>
              <a:t>Валютные колебания</a:t>
            </a:r>
          </a:p>
          <a:p>
            <a:pPr lvl="1"/>
            <a:r>
              <a:t>Сроки поставки оборудования</a:t>
            </a:r>
          </a:p>
          <a:p>
            <a:pPr lvl="1"/>
            <a:r>
              <a:t>Раздел 07: показатель за период — 1459 условных единиц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08. План на следующий квартал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Перевести 60% договоров в электронный вид</a:t>
            </a:r>
          </a:p>
          <a:p>
            <a:pPr lvl="1"/>
            <a:r>
              <a:t>Сократить срок согласования до 4 дней</a:t>
            </a:r>
          </a:p>
          <a:p>
            <a:pPr lvl="1"/>
            <a:r>
              <a:t>Запустить реестр в общем доступе</a:t>
            </a:r>
          </a:p>
          <a:p>
            <a:pPr lvl="1"/>
            <a:r>
              <a:t>Раздел 08: показатель за период — 1496 условных единиц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09. Бюджет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Расходы на лицензии — 18 400 BYN</a:t>
            </a:r>
          </a:p>
          <a:p>
            <a:pPr lvl="1"/>
            <a:r>
              <a:t>Обучение — 6 200 BYN</a:t>
            </a:r>
          </a:p>
          <a:p>
            <a:pPr lvl="1"/>
            <a:r>
              <a:t>Резерв — 5 000 BYN</a:t>
            </a:r>
          </a:p>
          <a:p>
            <a:pPr lvl="1"/>
            <a:r>
              <a:t>Раздел 09: показатель за период — 1533 условных единиц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10. Команда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Руководитель проекта — П. П. Петров</a:t>
            </a:r>
          </a:p>
          <a:p>
            <a:pPr lvl="1"/>
            <a:r>
              <a:t>Аналитик — А. В. Кузнецова</a:t>
            </a:r>
          </a:p>
          <a:p>
            <a:pPr lvl="1"/>
            <a:r>
              <a:t>Юрист — С. С. Сидоров</a:t>
            </a:r>
          </a:p>
          <a:p>
            <a:pPr lvl="1"/>
            <a:r>
              <a:t>Раздел 10: показатель за период — 1570 условных единиц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11. Метрики (KPI)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 to sign — 6 дней</a:t>
            </a:r>
          </a:p>
          <a:p>
            <a:pPr lvl="1"/>
            <a:r>
              <a:t>Contract coverage — 92%</a:t>
            </a:r>
          </a:p>
          <a:p>
            <a:pPr lvl="1"/>
            <a:r>
              <a:t>Renewal rate — 78%</a:t>
            </a:r>
          </a:p>
          <a:p>
            <a:pPr lvl="1"/>
            <a:r>
              <a:t>Раздел 11: показатель за период — 1607 условных единиц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12. Итоги квартала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Выручка выросла на 12% к предыдущему кварталу</a:t>
            </a:r>
          </a:p>
          <a:p>
            <a:pPr lvl="1"/>
            <a:r>
              <a:t>Подписано 8 новых договоров</a:t>
            </a:r>
          </a:p>
          <a:p>
            <a:pPr lvl="1"/>
            <a:r>
              <a:t>Средний срок согласования — 6 рабочих дней</a:t>
            </a:r>
          </a:p>
          <a:p>
            <a:pPr lvl="1"/>
            <a:r>
              <a:t>Раздел 12: показатель за период — 1644 условных единиц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13. Структура портфеля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Услуги — 54%</a:t>
            </a:r>
          </a:p>
          <a:p>
            <a:pPr lvl="1"/>
            <a:r>
              <a:t>Поставка — 31%</a:t>
            </a:r>
          </a:p>
          <a:p>
            <a:pPr lvl="1"/>
            <a:r>
              <a:t>Аренда — 15%</a:t>
            </a:r>
          </a:p>
          <a:p>
            <a:pPr lvl="1"/>
            <a:r>
              <a:t>Раздел 13: показатель за период — 1681 условных единиц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14. Ключевые контрагенты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ООО «Василёк»</a:t>
            </a:r>
          </a:p>
          <a:p>
            <a:pPr lvl="1"/>
            <a:r>
              <a:t>ЗАО «Тестовый Мост»</a:t>
            </a:r>
          </a:p>
          <a:p>
            <a:pPr lvl="1"/>
            <a:r>
              <a:t>ООО «ТехноСфера-Плюс»</a:t>
            </a:r>
          </a:p>
          <a:p>
            <a:pPr lvl="1"/>
            <a:r>
              <a:t>Раздел 14: показатель за период — 1718 условных единиц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15. Просроченная задолженность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Всего 4 договора</a:t>
            </a:r>
          </a:p>
          <a:p>
            <a:pPr lvl="1"/>
            <a:r>
              <a:t>Средний срок просрочки — 11 дней</a:t>
            </a:r>
          </a:p>
          <a:p>
            <a:pPr lvl="1"/>
            <a:r>
              <a:t>Претензионная работа начата по 3 из 4</a:t>
            </a:r>
          </a:p>
          <a:p>
            <a:pPr lvl="1"/>
            <a:r>
              <a:t>Раздел 15: показатель за период — 1755 условных единиц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16. Процесс согласования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Заявка</a:t>
            </a:r>
          </a:p>
          <a:p>
            <a:pPr lvl="1"/>
            <a:r>
              <a:t>Проверка контрагента</a:t>
            </a:r>
          </a:p>
          <a:p>
            <a:pPr lvl="1"/>
            <a:r>
              <a:t>Юридическая экспертиза</a:t>
            </a:r>
          </a:p>
          <a:p>
            <a:pPr lvl="1"/>
            <a:r>
              <a:t>Подписание</a:t>
            </a:r>
          </a:p>
          <a:p>
            <a:pPr lvl="1"/>
            <a:r>
              <a:t>Раздел 16: показатель за период — 1792 условных единиц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17. Риски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Зависимость от одного поставщика</a:t>
            </a:r>
          </a:p>
          <a:p>
            <a:pPr lvl="1"/>
            <a:r>
              <a:t>Валютные колебания</a:t>
            </a:r>
          </a:p>
          <a:p>
            <a:pPr lvl="1"/>
            <a:r>
              <a:t>Сроки поставки оборудования</a:t>
            </a:r>
          </a:p>
          <a:p>
            <a:pPr lvl="1"/>
            <a:r>
              <a:t>Раздел 17: показатель за период — 1829 условных единиц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18. План на следующий квартал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Перевести 60% договоров в электронный вид</a:t>
            </a:r>
          </a:p>
          <a:p>
            <a:pPr lvl="1"/>
            <a:r>
              <a:t>Сократить срок согласования до 4 дней</a:t>
            </a:r>
          </a:p>
          <a:p>
            <a:pPr lvl="1"/>
            <a:r>
              <a:t>Запустить реестр в общем доступе</a:t>
            </a:r>
          </a:p>
          <a:p>
            <a:pPr lvl="1"/>
            <a:r>
              <a:t>Раздел 18: показатель за период — 1866 условных единиц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19. Бюджет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Расходы на лицензии — 18 400 BYN</a:t>
            </a:r>
          </a:p>
          <a:p>
            <a:pPr lvl="1"/>
            <a:r>
              <a:t>Обучение — 6 200 BYN</a:t>
            </a:r>
          </a:p>
          <a:p>
            <a:pPr lvl="1"/>
            <a:r>
              <a:t>Резерв — 5 000 BYN</a:t>
            </a:r>
          </a:p>
          <a:p>
            <a:pPr lvl="1"/>
            <a:r>
              <a:t>Раздел 19: показатель за период — 1903 условных единиц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20. Команда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Руководитель проекта — П. П. Петров</a:t>
            </a:r>
          </a:p>
          <a:p>
            <a:pPr lvl="1"/>
            <a:r>
              <a:t>Аналитик — А. В. Кузнецова</a:t>
            </a:r>
          </a:p>
          <a:p>
            <a:pPr lvl="1"/>
            <a:r>
              <a:t>Юрист — С. С. Сидоров</a:t>
            </a:r>
          </a:p>
          <a:p>
            <a:pPr lvl="1"/>
            <a:r>
              <a:t>Раздел 20: показатель за период — 1940 условных единиц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21. Метрики (KPI)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 to sign — 6 дней</a:t>
            </a:r>
          </a:p>
          <a:p>
            <a:pPr lvl="1"/>
            <a:r>
              <a:t>Contract coverage — 92%</a:t>
            </a:r>
          </a:p>
          <a:p>
            <a:pPr lvl="1"/>
            <a:r>
              <a:t>Renewal rate — 78%</a:t>
            </a:r>
          </a:p>
          <a:p>
            <a:pPr lvl="1"/>
            <a:r>
              <a:t>Раздел 21: показатель за период — 1977 условных единиц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22. Итоги квартала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Выручка выросла на 12% к предыдущему кварталу</a:t>
            </a:r>
          </a:p>
          <a:p>
            <a:pPr lvl="1"/>
            <a:r>
              <a:t>Подписано 8 новых договоров</a:t>
            </a:r>
          </a:p>
          <a:p>
            <a:pPr lvl="1"/>
            <a:r>
              <a:t>Средний срок согласования — 6 рабочих дней</a:t>
            </a:r>
          </a:p>
          <a:p>
            <a:pPr lvl="1"/>
            <a:r>
              <a:t>Раздел 22: показатель за период — 2014 условных единиц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23. Структура портфеля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Услуги — 54%</a:t>
            </a:r>
          </a:p>
          <a:p>
            <a:pPr lvl="1"/>
            <a:r>
              <a:t>Поставка — 31%</a:t>
            </a:r>
          </a:p>
          <a:p>
            <a:pPr lvl="1"/>
            <a:r>
              <a:t>Аренда — 15%</a:t>
            </a:r>
          </a:p>
          <a:p>
            <a:pPr lvl="1"/>
            <a:r>
              <a:t>Раздел 23: показатель за период — 2051 условных единиц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24. Ключевые контрагенты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ООО «Василёк»</a:t>
            </a:r>
          </a:p>
          <a:p>
            <a:pPr lvl="1"/>
            <a:r>
              <a:t>ЗАО «Тестовый Мост»</a:t>
            </a:r>
          </a:p>
          <a:p>
            <a:pPr lvl="1"/>
            <a:r>
              <a:t>ООО «ТехноСфера-Плюс»</a:t>
            </a:r>
          </a:p>
          <a:p>
            <a:pPr lvl="1"/>
            <a:r>
              <a:t>Раздел 24: показатель за период — 2088 условных единиц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25. Просроченная задолженность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Всего 4 договора</a:t>
            </a:r>
          </a:p>
          <a:p>
            <a:pPr lvl="1"/>
            <a:r>
              <a:t>Средний срок просрочки — 11 дней</a:t>
            </a:r>
          </a:p>
          <a:p>
            <a:pPr lvl="1"/>
            <a:r>
              <a:t>Претензионная работа начата по 3 из 4</a:t>
            </a:r>
          </a:p>
          <a:p>
            <a:pPr lvl="1"/>
            <a:r>
              <a:t>Раздел 25: показатель за период — 2125 условных единиц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26. Процесс согласования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Заявка</a:t>
            </a:r>
          </a:p>
          <a:p>
            <a:pPr lvl="1"/>
            <a:r>
              <a:t>Проверка контрагента</a:t>
            </a:r>
          </a:p>
          <a:p>
            <a:pPr lvl="1"/>
            <a:r>
              <a:t>Юридическая экспертиза</a:t>
            </a:r>
          </a:p>
          <a:p>
            <a:pPr lvl="1"/>
            <a:r>
              <a:t>Подписание</a:t>
            </a:r>
          </a:p>
          <a:p>
            <a:pPr lvl="1"/>
            <a:r>
              <a:t>Раздел 26: показатель за период — 2162 условных единиц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27. Риски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Зависимость от одного поставщика</a:t>
            </a:r>
          </a:p>
          <a:p>
            <a:pPr lvl="1"/>
            <a:r>
              <a:t>Валютные колебания</a:t>
            </a:r>
          </a:p>
          <a:p>
            <a:pPr lvl="1"/>
            <a:r>
              <a:t>Сроки поставки оборудования</a:t>
            </a:r>
          </a:p>
          <a:p>
            <a:pPr lvl="1"/>
            <a:r>
              <a:t>Раздел 27: показатель за период — 2199 условных единиц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28. План на следующий квартал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Перевести 60% договоров в электронный вид</a:t>
            </a:r>
          </a:p>
          <a:p>
            <a:pPr lvl="1"/>
            <a:r>
              <a:t>Сократить срок согласования до 4 дней</a:t>
            </a:r>
          </a:p>
          <a:p>
            <a:pPr lvl="1"/>
            <a:r>
              <a:t>Запустить реестр в общем доступе</a:t>
            </a:r>
          </a:p>
          <a:p>
            <a:pPr lvl="1"/>
            <a:r>
              <a:t>Раздел 28: показатель за период — 2236 условных единиц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29. Бюджет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Расходы на лицензии — 18 400 BYN</a:t>
            </a:r>
          </a:p>
          <a:p>
            <a:pPr lvl="1"/>
            <a:r>
              <a:t>Обучение — 6 200 BYN</a:t>
            </a:r>
          </a:p>
          <a:p>
            <a:pPr lvl="1"/>
            <a:r>
              <a:t>Резерв — 5 000 BYN</a:t>
            </a:r>
          </a:p>
          <a:p>
            <a:pPr lvl="1"/>
            <a:r>
              <a:t>Раздел 29: показатель за период — 2273 условных единиц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30. Команда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Руководитель проекта — П. П. Петров</a:t>
            </a:r>
          </a:p>
          <a:p>
            <a:pPr lvl="1"/>
            <a:r>
              <a:t>Аналитик — А. В. Кузнецова</a:t>
            </a:r>
          </a:p>
          <a:p>
            <a:pPr lvl="1"/>
            <a:r>
              <a:t>Юрист — С. С. Сидоров</a:t>
            </a:r>
          </a:p>
          <a:p>
            <a:pPr lvl="1"/>
            <a:r>
              <a:t>Раздел 30: показатель за период — 2310 условных единиц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31. Метрики (KPI)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 to sign — 6 дней</a:t>
            </a:r>
          </a:p>
          <a:p>
            <a:pPr lvl="1"/>
            <a:r>
              <a:t>Contract coverage — 92%</a:t>
            </a:r>
          </a:p>
          <a:p>
            <a:pPr lvl="1"/>
            <a:r>
              <a:t>Renewal rate — 78%</a:t>
            </a:r>
          </a:p>
          <a:p>
            <a:pPr lvl="1"/>
            <a:r>
              <a:t>Раздел 31: показатель за период — 2347 условных единиц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32. Итоги квартала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Выручка выросла на 12% к предыдущему кварталу</a:t>
            </a:r>
          </a:p>
          <a:p>
            <a:pPr lvl="1"/>
            <a:r>
              <a:t>Подписано 8 новых договоров</a:t>
            </a:r>
          </a:p>
          <a:p>
            <a:pPr lvl="1"/>
            <a:r>
              <a:t>Средний срок согласования — 6 рабочих дней</a:t>
            </a:r>
          </a:p>
          <a:p>
            <a:pPr lvl="1"/>
            <a:r>
              <a:t>Раздел 32: показатель за период — 2384 условных единиц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33. Структура портфеля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Услуги — 54%</a:t>
            </a:r>
          </a:p>
          <a:p>
            <a:pPr lvl="1"/>
            <a:r>
              <a:t>Поставка — 31%</a:t>
            </a:r>
          </a:p>
          <a:p>
            <a:pPr lvl="1"/>
            <a:r>
              <a:t>Аренда — 15%</a:t>
            </a:r>
          </a:p>
          <a:p>
            <a:pPr lvl="1"/>
            <a:r>
              <a:t>Раздел 33: показатель за период — 2421 условных единиц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34. Ключевые контрагенты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ООО «Василёк»</a:t>
            </a:r>
          </a:p>
          <a:p>
            <a:pPr lvl="1"/>
            <a:r>
              <a:t>ЗАО «Тестовый Мост»</a:t>
            </a:r>
          </a:p>
          <a:p>
            <a:pPr lvl="1"/>
            <a:r>
              <a:t>ООО «ТехноСфера-Плюс»</a:t>
            </a:r>
          </a:p>
          <a:p>
            <a:pPr lvl="1"/>
            <a:r>
              <a:t>Раздел 34: показатель за период — 2458 условных единиц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35. Просроченная задолженность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Всего 4 договора</a:t>
            </a:r>
          </a:p>
          <a:p>
            <a:pPr lvl="1"/>
            <a:r>
              <a:t>Средний срок просрочки — 11 дней</a:t>
            </a:r>
          </a:p>
          <a:p>
            <a:pPr lvl="1"/>
            <a:r>
              <a:t>Претензионная работа начата по 3 из 4</a:t>
            </a:r>
          </a:p>
          <a:p>
            <a:pPr lvl="1"/>
            <a:r>
              <a:t>Раздел 35: показатель за период — 2495 условных единиц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36. Процесс согласования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Заявка</a:t>
            </a:r>
          </a:p>
          <a:p>
            <a:pPr lvl="1"/>
            <a:r>
              <a:t>Проверка контрагента</a:t>
            </a:r>
          </a:p>
          <a:p>
            <a:pPr lvl="1"/>
            <a:r>
              <a:t>Юридическая экспертиза</a:t>
            </a:r>
          </a:p>
          <a:p>
            <a:pPr lvl="1"/>
            <a:r>
              <a:t>Подписание</a:t>
            </a:r>
          </a:p>
          <a:p>
            <a:pPr lvl="1"/>
            <a:r>
              <a:t>Раздел 36: показатель за период — 2532 условных единиц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37. Риски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Зависимость от одного поставщика</a:t>
            </a:r>
          </a:p>
          <a:p>
            <a:pPr lvl="1"/>
            <a:r>
              <a:t>Валютные колебания</a:t>
            </a:r>
          </a:p>
          <a:p>
            <a:pPr lvl="1"/>
            <a:r>
              <a:t>Сроки поставки оборудования</a:t>
            </a:r>
          </a:p>
          <a:p>
            <a:pPr lvl="1"/>
            <a:r>
              <a:t>Раздел 37: показатель за период — 2569 условных единиц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38. План на следующий квартал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Перевести 60% договоров в электронный вид</a:t>
            </a:r>
          </a:p>
          <a:p>
            <a:pPr lvl="1"/>
            <a:r>
              <a:t>Сократить срок согласования до 4 дней</a:t>
            </a:r>
          </a:p>
          <a:p>
            <a:pPr lvl="1"/>
            <a:r>
              <a:t>Запустить реестр в общем доступе</a:t>
            </a:r>
          </a:p>
          <a:p>
            <a:pPr lvl="1"/>
            <a:r>
              <a:t>Раздел 38: показатель за период — 2606 условных единиц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39. Бюджет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Расходы на лицензии — 18 400 BYN</a:t>
            </a:r>
          </a:p>
          <a:p>
            <a:pPr lvl="1"/>
            <a:r>
              <a:t>Обучение — 6 200 BYN</a:t>
            </a:r>
          </a:p>
          <a:p>
            <a:pPr lvl="1"/>
            <a:r>
              <a:t>Резерв — 5 000 BYN</a:t>
            </a:r>
          </a:p>
          <a:p>
            <a:pPr lvl="1"/>
            <a:r>
              <a:t>Раздел 39: показатель за период — 2643 условных единиц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40. Команда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Руководитель проекта — П. П. Петров</a:t>
            </a:r>
          </a:p>
          <a:p>
            <a:pPr lvl="1"/>
            <a:r>
              <a:t>Аналитик — А. В. Кузнецова</a:t>
            </a:r>
          </a:p>
          <a:p>
            <a:pPr lvl="1"/>
            <a:r>
              <a:t>Юрист — С. С. Сидоров</a:t>
            </a:r>
          </a:p>
          <a:p>
            <a:pPr lvl="1"/>
            <a:r>
              <a:t>Раздел 40: показатель за период — 2680 условных единиц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41. Метрики (KPI)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 to sign — 6 дней</a:t>
            </a:r>
          </a:p>
          <a:p>
            <a:pPr lvl="1"/>
            <a:r>
              <a:t>Contract coverage — 92%</a:t>
            </a:r>
          </a:p>
          <a:p>
            <a:pPr lvl="1"/>
            <a:r>
              <a:t>Renewal rate — 78%</a:t>
            </a:r>
          </a:p>
          <a:p>
            <a:pPr lvl="1"/>
            <a:r>
              <a:t>Раздел 41: показатель за период — 2717 условных единиц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42. Итоги квартала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Выручка выросла на 12% к предыдущему кварталу</a:t>
            </a:r>
          </a:p>
          <a:p>
            <a:pPr lvl="1"/>
            <a:r>
              <a:t>Подписано 8 новых договоров</a:t>
            </a:r>
          </a:p>
          <a:p>
            <a:pPr lvl="1"/>
            <a:r>
              <a:t>Средний срок согласования — 6 рабочих дней</a:t>
            </a:r>
          </a:p>
          <a:p>
            <a:pPr lvl="1"/>
            <a:r>
              <a:t>Раздел 42: показатель за период — 2754 условных единиц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43. Структура портфеля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Услуги — 54%</a:t>
            </a:r>
          </a:p>
          <a:p>
            <a:pPr lvl="1"/>
            <a:r>
              <a:t>Поставка — 31%</a:t>
            </a:r>
          </a:p>
          <a:p>
            <a:pPr lvl="1"/>
            <a:r>
              <a:t>Аренда — 15%</a:t>
            </a:r>
          </a:p>
          <a:p>
            <a:pPr lvl="1"/>
            <a:r>
              <a:t>Раздел 43: показатель за период — 2791 условных единиц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44. Ключевые контрагенты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ООО «Василёк»</a:t>
            </a:r>
          </a:p>
          <a:p>
            <a:pPr lvl="1"/>
            <a:r>
              <a:t>ЗАО «Тестовый Мост»</a:t>
            </a:r>
          </a:p>
          <a:p>
            <a:pPr lvl="1"/>
            <a:r>
              <a:t>ООО «ТехноСфера-Плюс»</a:t>
            </a:r>
          </a:p>
          <a:p>
            <a:pPr lvl="1"/>
            <a:r>
              <a:t>Раздел 44: показатель за период — 2828 условных единиц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45. Просроченная задолженность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Всего 4 договора</a:t>
            </a:r>
          </a:p>
          <a:p>
            <a:pPr lvl="1"/>
            <a:r>
              <a:t>Средний срок просрочки — 11 дней</a:t>
            </a:r>
          </a:p>
          <a:p>
            <a:pPr lvl="1"/>
            <a:r>
              <a:t>Претензионная работа начата по 3 из 4</a:t>
            </a:r>
          </a:p>
          <a:p>
            <a:pPr lvl="1"/>
            <a:r>
              <a:t>Раздел 45: показатель за период — 2865 условных единиц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46. Процесс согласования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Заявка</a:t>
            </a:r>
          </a:p>
          <a:p>
            <a:pPr lvl="1"/>
            <a:r>
              <a:t>Проверка контрагента</a:t>
            </a:r>
          </a:p>
          <a:p>
            <a:pPr lvl="1"/>
            <a:r>
              <a:t>Юридическая экспертиза</a:t>
            </a:r>
          </a:p>
          <a:p>
            <a:pPr lvl="1"/>
            <a:r>
              <a:t>Подписание</a:t>
            </a:r>
          </a:p>
          <a:p>
            <a:pPr lvl="1"/>
            <a:r>
              <a:t>Раздел 46: показатель за период — 2902 условных единиц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47. Риски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Зависимость от одного поставщика</a:t>
            </a:r>
          </a:p>
          <a:p>
            <a:pPr lvl="1"/>
            <a:r>
              <a:t>Валютные колебания</a:t>
            </a:r>
          </a:p>
          <a:p>
            <a:pPr lvl="1"/>
            <a:r>
              <a:t>Сроки поставки оборудования</a:t>
            </a:r>
          </a:p>
          <a:p>
            <a:pPr lvl="1"/>
            <a:r>
              <a:t>Раздел 47: показатель за период — 2939 условных единиц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48. План на следующий квартал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Перевести 60% договоров в электронный вид</a:t>
            </a:r>
          </a:p>
          <a:p>
            <a:pPr lvl="1"/>
            <a:r>
              <a:t>Сократить срок согласования до 4 дней</a:t>
            </a:r>
          </a:p>
          <a:p>
            <a:pPr lvl="1"/>
            <a:r>
              <a:t>Запустить реестр в общем доступе</a:t>
            </a:r>
          </a:p>
          <a:p>
            <a:pPr lvl="1"/>
            <a:r>
              <a:t>Раздел 48: показатель за период — 2976 условных единиц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49. Бюджет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Расходы на лицензии — 18 400 BYN</a:t>
            </a:r>
          </a:p>
          <a:p>
            <a:pPr lvl="1"/>
            <a:r>
              <a:t>Обучение — 6 200 BYN</a:t>
            </a:r>
          </a:p>
          <a:p>
            <a:pPr lvl="1"/>
            <a:r>
              <a:t>Резерв — 5 000 BYN</a:t>
            </a:r>
          </a:p>
          <a:p>
            <a:pPr lvl="1"/>
            <a:r>
              <a:t>Раздел 49: показатель за период — 3013 условных единиц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50. Команда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Руководитель проекта — П. П. Петров</a:t>
            </a:r>
          </a:p>
          <a:p>
            <a:pPr lvl="1"/>
            <a:r>
              <a:t>Аналитик — А. В. Кузнецова</a:t>
            </a:r>
          </a:p>
          <a:p>
            <a:pPr lvl="1"/>
            <a:r>
              <a:t>Юрист — С. С. Сидоров</a:t>
            </a:r>
          </a:p>
          <a:p>
            <a:pPr lvl="1"/>
            <a:r>
              <a:t>Раздел 50: показатель за период — 3050 условных единиц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51. Метрики (KPI)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 to sign — 6 дней</a:t>
            </a:r>
          </a:p>
          <a:p>
            <a:pPr lvl="1"/>
            <a:r>
              <a:t>Contract coverage — 92%</a:t>
            </a:r>
          </a:p>
          <a:p>
            <a:pPr lvl="1"/>
            <a:r>
              <a:t>Renewal rate — 78%</a:t>
            </a:r>
          </a:p>
          <a:p>
            <a:pPr lvl="1"/>
            <a:r>
              <a:t>Раздел 51: показатель за период — 3087 условных единиц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52. Итоги квартала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Выручка выросла на 12% к предыдущему кварталу</a:t>
            </a:r>
          </a:p>
          <a:p>
            <a:pPr lvl="1"/>
            <a:r>
              <a:t>Подписано 8 новых договоров</a:t>
            </a:r>
          </a:p>
          <a:p>
            <a:pPr lvl="1"/>
            <a:r>
              <a:t>Средний срок согласования — 6 рабочих дней</a:t>
            </a:r>
          </a:p>
          <a:p>
            <a:pPr lvl="1"/>
            <a:r>
              <a:t>Раздел 52: показатель за период — 3124 условных единиц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53. Структура портфеля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Услуги — 54%</a:t>
            </a:r>
          </a:p>
          <a:p>
            <a:pPr lvl="1"/>
            <a:r>
              <a:t>Поставка — 31%</a:t>
            </a:r>
          </a:p>
          <a:p>
            <a:pPr lvl="1"/>
            <a:r>
              <a:t>Аренда — 15%</a:t>
            </a:r>
          </a:p>
          <a:p>
            <a:pPr lvl="1"/>
            <a:r>
              <a:t>Раздел 53: показатель за период — 3161 условных единиц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54. Ключевые контрагенты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ООО «Василёк»</a:t>
            </a:r>
          </a:p>
          <a:p>
            <a:pPr lvl="1"/>
            <a:r>
              <a:t>ЗАО «Тестовый Мост»</a:t>
            </a:r>
          </a:p>
          <a:p>
            <a:pPr lvl="1"/>
            <a:r>
              <a:t>ООО «ТехноСфера-Плюс»</a:t>
            </a:r>
          </a:p>
          <a:p>
            <a:pPr lvl="1"/>
            <a:r>
              <a:t>Раздел 54: показатель за период — 3198 условных единиц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55. Просроченная задолженность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Всего 4 договора</a:t>
            </a:r>
          </a:p>
          <a:p>
            <a:pPr lvl="1"/>
            <a:r>
              <a:t>Средний срок просрочки — 11 дней</a:t>
            </a:r>
          </a:p>
          <a:p>
            <a:pPr lvl="1"/>
            <a:r>
              <a:t>Претензионная работа начата по 3 из 4</a:t>
            </a:r>
          </a:p>
          <a:p>
            <a:pPr lvl="1"/>
            <a:r>
              <a:t>Раздел 55: показатель за период — 3235 условных единиц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56. Процесс согласования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Заявка</a:t>
            </a:r>
          </a:p>
          <a:p>
            <a:pPr lvl="1"/>
            <a:r>
              <a:t>Проверка контрагента</a:t>
            </a:r>
          </a:p>
          <a:p>
            <a:pPr lvl="1"/>
            <a:r>
              <a:t>Юридическая экспертиза</a:t>
            </a:r>
          </a:p>
          <a:p>
            <a:pPr lvl="1"/>
            <a:r>
              <a:t>Подписание</a:t>
            </a:r>
          </a:p>
          <a:p>
            <a:pPr lvl="1"/>
            <a:r>
              <a:t>Раздел 56: показатель за период — 3272 условных единиц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57. Риски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Зависимость от одного поставщика</a:t>
            </a:r>
          </a:p>
          <a:p>
            <a:pPr lvl="1"/>
            <a:r>
              <a:t>Валютные колебания</a:t>
            </a:r>
          </a:p>
          <a:p>
            <a:pPr lvl="1"/>
            <a:r>
              <a:t>Сроки поставки оборудования</a:t>
            </a:r>
          </a:p>
          <a:p>
            <a:pPr lvl="1"/>
            <a:r>
              <a:t>Раздел 57: показатель за период — 3309 условных единиц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58. План на следующий квартал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Перевести 60% договоров в электронный вид</a:t>
            </a:r>
          </a:p>
          <a:p>
            <a:pPr lvl="1"/>
            <a:r>
              <a:t>Сократить срок согласования до 4 дней</a:t>
            </a:r>
          </a:p>
          <a:p>
            <a:pPr lvl="1"/>
            <a:r>
              <a:t>Запустить реестр в общем доступе</a:t>
            </a:r>
          </a:p>
          <a:p>
            <a:pPr lvl="1"/>
            <a:r>
              <a:t>Раздел 58: показатель за период — 3346 условных единиц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59. Бюджет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Расходы на лицензии — 18 400 BYN</a:t>
            </a:r>
          </a:p>
          <a:p>
            <a:pPr lvl="1"/>
            <a:r>
              <a:t>Обучение — 6 200 BYN</a:t>
            </a:r>
          </a:p>
          <a:p>
            <a:pPr lvl="1"/>
            <a:r>
              <a:t>Резерв — 5 000 BYN</a:t>
            </a:r>
          </a:p>
          <a:p>
            <a:pPr lvl="1"/>
            <a:r>
              <a:t>Раздел 59: показатель за период — 3383 условных единиц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60. Команда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Руководитель проекта — П. П. Петров</a:t>
            </a:r>
          </a:p>
          <a:p>
            <a:pPr lvl="1"/>
            <a:r>
              <a:t>Аналитик — А. В. Кузнецова</a:t>
            </a:r>
          </a:p>
          <a:p>
            <a:pPr lvl="1"/>
            <a:r>
              <a:t>Юрист — С. С. Сидоров</a:t>
            </a:r>
          </a:p>
          <a:p>
            <a:pPr lvl="1"/>
            <a:r>
              <a:t>Раздел 60: показатель за период — 3420 условных единиц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Годовой обзор — расширенная версия</dc:title>
  <dc:subject/>
  <dc:creator>Отдел договорной работы</dc:creator>
  <cp:keywords/>
  <dc:description>generated using python-pptx</dc:description>
  <cp:lastModifiedBy>Отдел договорной работы</cp:lastModifiedBy>
  <cp:revision>1</cp:revision>
  <dcterms:created xsi:type="dcterms:W3CDTF">2024-01-15T09:00:00Z</dcterms:created>
  <dcterms:modified xsi:type="dcterms:W3CDTF">2024-01-15T09:00:00Z</dcterms:modified>
  <cp:category/>
</cp:coreProperties>
</file>