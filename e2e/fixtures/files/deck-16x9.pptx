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Отчёт по договорной работе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ООО «Ромашка» · IV квартал 2024 · для внутреннего использования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Итоги полугодия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Раздел 1. Ключевые показатели за период</a:t>
            </a:r>
          </a:p>
          <a:p>
            <a:pPr lvl="1"/>
            <a:r>
              <a:t>Выручка выросла на 12% к предыдущему кварталу</a:t>
            </a:r>
          </a:p>
          <a:p>
            <a:pPr lvl="1"/>
            <a:r>
              <a:t>Подписано 8 новых договоров</a:t>
            </a:r>
          </a:p>
          <a:p>
            <a:pPr lvl="1"/>
            <a:r>
              <a:t>Средний срок согласования — 6 рабочих дней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Структура портфеля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Услуги — 54%</a:t>
            </a:r>
          </a:p>
          <a:p>
            <a:pPr lvl="1"/>
            <a:r>
              <a:t>Поставка — 31%</a:t>
            </a:r>
          </a:p>
          <a:p>
            <a:pPr lvl="1"/>
            <a:r>
              <a:t>Аренда — 15%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Ключевые контрагенты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ООО «Василёк»</a:t>
            </a:r>
          </a:p>
          <a:p>
            <a:pPr lvl="1"/>
            <a:r>
              <a:t>ЗАО «Тестовый Мост»</a:t>
            </a:r>
          </a:p>
          <a:p>
            <a:pPr lvl="1"/>
            <a:r>
              <a:t>ООО «ТехноСфера-Плюс»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Просроченная задолженность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Всего 4 договора</a:t>
            </a:r>
          </a:p>
          <a:p>
            <a:pPr lvl="1"/>
            <a:r>
              <a:t>Средний срок просрочки — 11 дней</a:t>
            </a:r>
          </a:p>
          <a:p>
            <a:pPr lvl="1"/>
            <a:r>
              <a:t>Претензионная работа начата по 3 из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Процесс согласования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Заявка</a:t>
            </a:r>
          </a:p>
          <a:p>
            <a:pPr lvl="1"/>
            <a:r>
              <a:t>Проверка контрагента</a:t>
            </a:r>
          </a:p>
          <a:p>
            <a:pPr lvl="1"/>
            <a:r>
              <a:t>Юридическая экспертиза</a:t>
            </a:r>
          </a:p>
          <a:p>
            <a:pPr lvl="1"/>
            <a:r>
              <a:t>Подписание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Риски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Зависимость от одного поставщика</a:t>
            </a:r>
          </a:p>
          <a:p>
            <a:pPr lvl="1"/>
            <a:r>
              <a:t>Валютные колебания</a:t>
            </a:r>
          </a:p>
          <a:p>
            <a:pPr lvl="1"/>
            <a:r>
              <a:t>Сроки поставки оборудования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План на следующий квартал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Перевести 60% договоров в электронный вид</a:t>
            </a:r>
          </a:p>
          <a:p>
            <a:pPr lvl="1"/>
            <a:r>
              <a:t>Сократить срок согласования до 4 дней</a:t>
            </a:r>
          </a:p>
          <a:p>
            <a:pPr lvl="1"/>
            <a:r>
              <a:t>Запустить реестр в общем доступе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Бюджет проекта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Расходы на лицензии — 18 400 BYN</a:t>
            </a:r>
          </a:p>
          <a:p>
            <a:pPr lvl="1"/>
            <a:r>
              <a:t>Обучение — 6 200 BYN</a:t>
            </a:r>
          </a:p>
          <a:p>
            <a:pPr lvl="1"/>
            <a:r>
              <a:t>Резерв — 5 000 BYN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Команда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Руководитель проекта — П. П. Петров</a:t>
            </a:r>
          </a:p>
          <a:p>
            <a:pPr lvl="1"/>
            <a:r>
              <a:t>Аналитик — А. В. Кузнецова</a:t>
            </a:r>
          </a:p>
          <a:p>
            <a:pPr lvl="1"/>
            <a:r>
              <a:t>Юрист — С. С. Сидоров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Реестр крупных договоров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20000" y="1440000"/>
          <a:ext cx="10752000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8000"/>
                <a:gridCol w="2688000"/>
                <a:gridCol w="2688000"/>
                <a:gridCol w="2688000"/>
              </a:tblGrid>
              <a:tr h="576000">
                <a:tc>
                  <a:txBody>
                    <a:bodyPr/>
                    <a:lstStyle/>
                    <a:p>
                      <a:r>
                        <a:rPr sz="1400"/>
                        <a:t>Договор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Контрагент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Сумма, BYN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Статус</a:t>
                      </a:r>
                    </a:p>
                  </a:txBody>
                  <a:tcPr/>
                </a:tc>
              </a:tr>
              <a:tr h="576000">
                <a:tc>
                  <a:txBody>
                    <a:bodyPr/>
                    <a:lstStyle/>
                    <a:p>
                      <a:r>
                        <a:rPr sz="1400"/>
                        <a:t>№ 17/2024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ООО «Ромашка»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12 480,00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Действует</a:t>
                      </a:r>
                    </a:p>
                  </a:txBody>
                  <a:tcPr/>
                </a:tc>
              </a:tr>
              <a:tr h="576000">
                <a:tc>
                  <a:txBody>
                    <a:bodyPr/>
                    <a:lstStyle/>
                    <a:p>
                      <a:r>
                        <a:rPr sz="1400"/>
                        <a:t>№ 18/2024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ИП Иванов И. И.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15 630,00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На согласовании</a:t>
                      </a:r>
                    </a:p>
                  </a:txBody>
                  <a:tcPr/>
                </a:tc>
              </a:tr>
              <a:tr h="576000">
                <a:tc>
                  <a:txBody>
                    <a:bodyPr/>
                    <a:lstStyle/>
                    <a:p>
                      <a:r>
                        <a:rPr sz="1400"/>
                        <a:t>№ 19/2024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ООО «Василёк»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18 780,00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Завершён</a:t>
                      </a:r>
                    </a:p>
                  </a:txBody>
                  <a:tcPr/>
                </a:tc>
              </a:tr>
              <a:tr h="576000">
                <a:tc>
                  <a:txBody>
                    <a:bodyPr/>
                    <a:lstStyle/>
                    <a:p>
                      <a:r>
                        <a:rPr sz="1400"/>
                        <a:t>№ 20/2024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ЗАО «Тестовый Мост»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21 930,00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Продлён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Динамика подписаний (шт.)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80000" y="3168000"/>
            <a:ext cx="792000" cy="1512000"/>
          </a:xfrm>
          <a:prstGeom prst="rect">
            <a:avLst/>
          </a:prstGeom>
          <a:solidFill>
            <a:srgbClr val="0F6A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0000" y="4680000"/>
            <a:ext cx="792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/>
              <a:t>Янв — 42</a:t>
            </a:r>
          </a:p>
        </p:txBody>
      </p:sp>
      <p:sp>
        <p:nvSpPr>
          <p:cNvPr id="5" name="Rectangle 4"/>
          <p:cNvSpPr/>
          <p:nvPr/>
        </p:nvSpPr>
        <p:spPr>
          <a:xfrm>
            <a:off x="2232000" y="2232000"/>
            <a:ext cx="792000" cy="2448000"/>
          </a:xfrm>
          <a:prstGeom prst="rect">
            <a:avLst/>
          </a:prstGeom>
          <a:solidFill>
            <a:srgbClr val="0F6A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32000" y="4680000"/>
            <a:ext cx="792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/>
              <a:t>Фев — 68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4000" y="2700000"/>
            <a:ext cx="792000" cy="1980000"/>
          </a:xfrm>
          <a:prstGeom prst="rect">
            <a:avLst/>
          </a:prstGeom>
          <a:solidFill>
            <a:srgbClr val="0F6A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4000" y="4680000"/>
            <a:ext cx="792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/>
              <a:t>Мар — 55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6000" y="1404000"/>
            <a:ext cx="792000" cy="3276000"/>
          </a:xfrm>
          <a:prstGeom prst="rect">
            <a:avLst/>
          </a:prstGeom>
          <a:solidFill>
            <a:srgbClr val="0F6A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6000" y="4680000"/>
            <a:ext cx="792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/>
              <a:t>Апр — 91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88000" y="2016000"/>
            <a:ext cx="792000" cy="2664000"/>
          </a:xfrm>
          <a:prstGeom prst="rect">
            <a:avLst/>
          </a:prstGeom>
          <a:solidFill>
            <a:srgbClr val="0F6A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88000" y="4680000"/>
            <a:ext cx="792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/>
              <a:t>Май — 74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Отчёт по договорной работе за квартал</dc:title>
  <dc:subject/>
  <dc:creator>Отдел договорной работы</dc:creator>
  <cp:keywords/>
  <dc:description>generated using python-pptx</dc:description>
  <cp:lastModifiedBy>Отдел договорной работы</cp:lastModifiedBy>
  <cp:revision>1</cp:revision>
  <dcterms:created xsi:type="dcterms:W3CDTF">2024-01-15T09:00:00Z</dcterms:created>
  <dcterms:modified xsi:type="dcterms:W3CDTF">2024-01-15T09:00:00Z</dcterms:modified>
  <cp:category/>
</cp:coreProperties>
</file>